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8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Pass / Fail theo module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AI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Password
Policy</c:v>
                </c:pt>
                <c:pt idx="1">
                  <c:v>Account
Lockout</c:v>
                </c:pt>
                <c:pt idx="2">
                  <c:v>Session
Timeout</c:v>
                </c:pt>
                <c:pt idx="3">
                  <c:v>Remember
Me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4</c:v>
                </c:pt>
                <c:pt idx="2">
                  <c:v>7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62-4BF3-978D-E0FB2B87618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Fail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AI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Password
Policy</c:v>
                </c:pt>
                <c:pt idx="1">
                  <c:v>Account
Lockout</c:v>
                </c:pt>
                <c:pt idx="2">
                  <c:v>Session
Timeout</c:v>
                </c:pt>
                <c:pt idx="3">
                  <c:v>Remember
Me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</c:v>
                </c:pt>
                <c:pt idx="1">
                  <c:v>8</c:v>
                </c:pt>
                <c:pt idx="2">
                  <c:v>7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462-4BF3-978D-E0FB2B87618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AI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AI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AI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5731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836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0"/>
            <a:ext cx="2011680" cy="12801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1280160"/>
            <a:ext cx="1280160" cy="91440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57276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GIỮA KÌ MÔN KIỂM THỬ PHẦN MỀM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8368" y="1993392"/>
            <a:ext cx="741029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chemeClr val="bg1"/>
                </a:solidFill>
                <a:cs typeface="Times New Roman" panose="02020603050405020304" pitchFamily="18" charset="0"/>
              </a:rPr>
              <a:t>Kiểm</a:t>
            </a:r>
            <a:r>
              <a:rPr lang="en-US" sz="2800" b="1" dirty="0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cs typeface="Times New Roman" panose="02020603050405020304" pitchFamily="18" charset="0"/>
              </a:rPr>
              <a:t>thử</a:t>
            </a:r>
            <a:r>
              <a:rPr lang="en-US" sz="2800" b="1" dirty="0">
                <a:solidFill>
                  <a:schemeClr val="bg1"/>
                </a:solidFill>
                <a:cs typeface="Times New Roman" panose="02020603050405020304" pitchFamily="18" charset="0"/>
              </a:rPr>
              <a:t> Authentication: Policy </a:t>
            </a:r>
            <a:r>
              <a:rPr lang="en-US" sz="2800" b="1" dirty="0" err="1">
                <a:solidFill>
                  <a:schemeClr val="bg1"/>
                </a:solidFill>
                <a:cs typeface="Times New Roman" panose="02020603050405020304" pitchFamily="18" charset="0"/>
              </a:rPr>
              <a:t>Mật</a:t>
            </a:r>
            <a:r>
              <a:rPr lang="en-US" sz="2800" b="1" dirty="0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cs typeface="Times New Roman" panose="02020603050405020304" pitchFamily="18" charset="0"/>
              </a:rPr>
              <a:t>khẩu</a:t>
            </a:r>
            <a:r>
              <a:rPr lang="en-US" sz="2800" b="1" dirty="0">
                <a:solidFill>
                  <a:schemeClr val="bg1"/>
                </a:solidFill>
                <a:cs typeface="Times New Roman" panose="02020603050405020304" pitchFamily="18" charset="0"/>
              </a:rPr>
              <a:t>, Lockout, Session Timeout, Remember-Me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10235" y="4407408"/>
            <a:ext cx="8641080" cy="7315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446227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" y="47914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1AFC36-50F6-4018-9900-80CDED089C5D}"/>
              </a:ext>
            </a:extLst>
          </p:cNvPr>
          <p:cNvSpPr txBox="1"/>
          <p:nvPr/>
        </p:nvSpPr>
        <p:spPr>
          <a:xfrm>
            <a:off x="582691" y="4472954"/>
            <a:ext cx="55761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cs typeface="Times New Roman" panose="02020603050405020304" pitchFamily="18" charset="0"/>
              </a:rPr>
              <a:t>GVHD: </a:t>
            </a:r>
            <a:r>
              <a:rPr lang="en-US" b="1" dirty="0" err="1">
                <a:solidFill>
                  <a:schemeClr val="bg1"/>
                </a:solidFill>
                <a:cs typeface="Times New Roman" panose="02020603050405020304" pitchFamily="18" charset="0"/>
              </a:rPr>
              <a:t>Th.S</a:t>
            </a:r>
            <a:r>
              <a:rPr lang="en-US" b="1" dirty="0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cs typeface="Times New Roman" panose="02020603050405020304" pitchFamily="18" charset="0"/>
              </a:rPr>
              <a:t>Phạm</a:t>
            </a:r>
            <a:r>
              <a:rPr lang="en-US" b="1" dirty="0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cs typeface="Times New Roman" panose="02020603050405020304" pitchFamily="18" charset="0"/>
              </a:rPr>
              <a:t>Trọng</a:t>
            </a:r>
            <a:r>
              <a:rPr lang="en-US" b="1" dirty="0">
                <a:solidFill>
                  <a:schemeClr val="bg1"/>
                </a:solidFill>
                <a:cs typeface="Times New Roman" panose="02020603050405020304" pitchFamily="18" charset="0"/>
              </a:rPr>
              <a:t> Huynh</a:t>
            </a:r>
            <a:endParaRPr lang="en-AI" b="1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22" name="Google Shape;154;p24">
            <a:extLst>
              <a:ext uri="{FF2B5EF4-FFF2-40B4-BE49-F238E27FC236}">
                <a16:creationId xmlns:a16="http://schemas.microsoft.com/office/drawing/2014/main" id="{FC579AE1-B087-41E1-BDE5-0C32DC8E6027}"/>
              </a:ext>
            </a:extLst>
          </p:cNvPr>
          <p:cNvSpPr txBox="1">
            <a:spLocks/>
          </p:cNvSpPr>
          <p:nvPr/>
        </p:nvSpPr>
        <p:spPr>
          <a:xfrm>
            <a:off x="582691" y="4730772"/>
            <a:ext cx="5711966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b="1" dirty="0">
                <a:solidFill>
                  <a:schemeClr val="bg1"/>
                </a:solidFill>
                <a:cs typeface="Times New Roman" panose="02020603050405020304" pitchFamily="18" charset="0"/>
              </a:rPr>
              <a:t>SVTH: Trần Minh Nhật – 1150080068 – 11ĐHCNPM1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TỔNG QUAN DỰ ÁN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37160" y="731520"/>
            <a:ext cx="406908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" y="731520"/>
            <a:ext cx="40690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6888" y="74980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kiểm thử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" y="1075334"/>
            <a:ext cx="4069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" y="116677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72768" y="116677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Juice Shop v19.1.1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37160" y="1532534"/>
            <a:ext cx="4069080" cy="4572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" y="162397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72768" y="162397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v22 + Express.js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37160" y="1989734"/>
            <a:ext cx="4069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" y="208117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72768" y="208117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37160" y="2446934"/>
            <a:ext cx="4069080" cy="4572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" y="253837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72768" y="253837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(Sequelize ORM)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37160" y="2904134"/>
            <a:ext cx="4069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6888" y="299557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72768" y="299557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RS256 – jsonwebtoken v0.4.0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37160" y="3361334"/>
            <a:ext cx="4069080" cy="4572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  <p:txBody>
          <a:bodyPr/>
          <a:lstStyle/>
          <a:p>
            <a:endParaRPr lang="en-AI" dirty="0"/>
          </a:p>
        </p:txBody>
      </p:sp>
      <p:sp>
        <p:nvSpPr>
          <p:cNvPr id="23" name="Text 21"/>
          <p:cNvSpPr/>
          <p:nvPr/>
        </p:nvSpPr>
        <p:spPr>
          <a:xfrm>
            <a:off x="246888" y="345277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pw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572768" y="345277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– không có salt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37160" y="3818534"/>
            <a:ext cx="4069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6888" y="390997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572768" y="390997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– localhost:3000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0" y="987552"/>
            <a:ext cx="4315968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0" y="987552"/>
            <a:ext cx="4315968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1728" y="100584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 kiểm thử 4 module này?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681728" y="1463040"/>
            <a:ext cx="54864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14264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Policy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28032" y="17007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Mật khẩu có bắt buộc đủ mạnh không?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28032" y="193852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Không enforce → tài khoản dễ bị đoán, brute-force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81728" y="2359152"/>
            <a:ext cx="54864" cy="6766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28032" y="23225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Lockout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28032" y="25968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bị khóa sau nhiều lần sai không?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28032" y="28346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Không có → kẻ tấn công thử mật khẩu vô hạn lần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81728" y="3255264"/>
            <a:ext cx="54864" cy="6766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28032" y="32186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Timeout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828032" y="34930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Phiên đăng nhập có tự hết hạn không?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28032" y="37307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Không expire → token bị đánh cắp dùng mãi mãi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81728" y="4151376"/>
            <a:ext cx="54864" cy="6766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28032" y="4114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Remember-Me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828032" y="43891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ghi nhớ có an toàn không?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828032" y="462686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Thiếu HttpOnly/Secure → dễ bị XSS, CSRF đánh cắp</a:t>
            </a:r>
            <a:endParaRPr lang="en-US" sz="10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4503F33-5D70-4DDA-89F1-A5F28FCA1CC8}"/>
              </a:ext>
            </a:extLst>
          </p:cNvPr>
          <p:cNvSpPr txBox="1"/>
          <p:nvPr/>
        </p:nvSpPr>
        <p:spPr>
          <a:xfrm>
            <a:off x="4504335" y="610948"/>
            <a:ext cx="4579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Phạm</a:t>
            </a:r>
            <a:r>
              <a:rPr lang="en-US" b="1" dirty="0"/>
              <a:t> vi </a:t>
            </a:r>
            <a:r>
              <a:rPr lang="en-US" b="1" dirty="0" err="1"/>
              <a:t>kiểm</a:t>
            </a:r>
            <a:r>
              <a:rPr lang="en-US" b="1" dirty="0"/>
              <a:t> </a:t>
            </a:r>
            <a:r>
              <a:rPr lang="en-US" b="1" dirty="0" err="1"/>
              <a:t>thử</a:t>
            </a:r>
            <a:r>
              <a:rPr lang="en-US" b="1" dirty="0"/>
              <a:t>: 4 module Authentication</a:t>
            </a:r>
            <a:endParaRPr lang="en-AI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3382AF8-C287-4D18-A375-AE98AB467EE1}"/>
              </a:ext>
            </a:extLst>
          </p:cNvPr>
          <p:cNvSpPr txBox="1"/>
          <p:nvPr/>
        </p:nvSpPr>
        <p:spPr>
          <a:xfrm>
            <a:off x="157278" y="4486089"/>
            <a:ext cx="39300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Thời</a:t>
            </a:r>
            <a:r>
              <a:rPr lang="en-US" b="1" dirty="0"/>
              <a:t> </a:t>
            </a:r>
            <a:r>
              <a:rPr lang="en-US" b="1" dirty="0" err="1"/>
              <a:t>gian</a:t>
            </a:r>
            <a:r>
              <a:rPr lang="en-US" b="1" dirty="0"/>
              <a:t> </a:t>
            </a:r>
            <a:r>
              <a:rPr lang="en-US" b="1" dirty="0" err="1"/>
              <a:t>dự</a:t>
            </a:r>
            <a:r>
              <a:rPr lang="en-US" b="1" dirty="0"/>
              <a:t> </a:t>
            </a:r>
            <a:r>
              <a:rPr lang="en-US" b="1" dirty="0" err="1"/>
              <a:t>kiến</a:t>
            </a:r>
            <a:r>
              <a:rPr lang="en-US" b="1" dirty="0"/>
              <a:t> </a:t>
            </a:r>
            <a:r>
              <a:rPr lang="en-US" b="1" dirty="0" err="1"/>
              <a:t>kiểm</a:t>
            </a:r>
            <a:r>
              <a:rPr lang="en-US" b="1" dirty="0"/>
              <a:t> </a:t>
            </a:r>
            <a:r>
              <a:rPr lang="en-US" b="1" dirty="0" err="1"/>
              <a:t>thử</a:t>
            </a:r>
            <a:r>
              <a:rPr lang="en-US" b="1" dirty="0"/>
              <a:t>: 19 </a:t>
            </a:r>
            <a:r>
              <a:rPr lang="en-US" b="1" dirty="0" err="1"/>
              <a:t>ngày</a:t>
            </a:r>
            <a:endParaRPr lang="en-AI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MA TRẬN LIÊN KẾT</a:t>
            </a:r>
            <a:endParaRPr lang="en-US" sz="1900" dirty="0"/>
          </a:p>
        </p:txBody>
      </p:sp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93469BEF-FE37-4658-97DB-160B3664A3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3791061"/>
              </p:ext>
            </p:extLst>
          </p:nvPr>
        </p:nvGraphicFramePr>
        <p:xfrm>
          <a:off x="766232" y="1115803"/>
          <a:ext cx="7611535" cy="3262313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522307">
                  <a:extLst>
                    <a:ext uri="{9D8B030D-6E8A-4147-A177-3AD203B41FA5}">
                      <a16:colId xmlns:a16="http://schemas.microsoft.com/office/drawing/2014/main" val="4283119801"/>
                    </a:ext>
                  </a:extLst>
                </a:gridCol>
                <a:gridCol w="1522307">
                  <a:extLst>
                    <a:ext uri="{9D8B030D-6E8A-4147-A177-3AD203B41FA5}">
                      <a16:colId xmlns:a16="http://schemas.microsoft.com/office/drawing/2014/main" val="1885351816"/>
                    </a:ext>
                  </a:extLst>
                </a:gridCol>
                <a:gridCol w="1522307">
                  <a:extLst>
                    <a:ext uri="{9D8B030D-6E8A-4147-A177-3AD203B41FA5}">
                      <a16:colId xmlns:a16="http://schemas.microsoft.com/office/drawing/2014/main" val="3302208774"/>
                    </a:ext>
                  </a:extLst>
                </a:gridCol>
                <a:gridCol w="1522307">
                  <a:extLst>
                    <a:ext uri="{9D8B030D-6E8A-4147-A177-3AD203B41FA5}">
                      <a16:colId xmlns:a16="http://schemas.microsoft.com/office/drawing/2014/main" val="2074566345"/>
                    </a:ext>
                  </a:extLst>
                </a:gridCol>
                <a:gridCol w="1522307">
                  <a:extLst>
                    <a:ext uri="{9D8B030D-6E8A-4147-A177-3AD203B41FA5}">
                      <a16:colId xmlns:a16="http://schemas.microsoft.com/office/drawing/2014/main" val="980611797"/>
                    </a:ext>
                  </a:extLst>
                </a:gridCol>
              </a:tblGrid>
              <a:tr h="322406"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solidFill>
                            <a:schemeClr val="bg1"/>
                          </a:solidFill>
                          <a:effectLst/>
                        </a:rPr>
                        <a:t>Mã</a:t>
                      </a: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chemeClr val="bg1"/>
                          </a:solidFill>
                          <a:effectLst/>
                        </a:rPr>
                        <a:t>yêu</a:t>
                      </a: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chemeClr val="bg1"/>
                          </a:solidFill>
                          <a:effectLst/>
                        </a:rPr>
                        <a:t>cầu</a:t>
                      </a:r>
                      <a:endParaRPr lang="en-US" sz="1200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20492" marR="20492" marT="13661" marB="13661"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</a:rPr>
                        <a:t>Nội dung yêu cầu</a:t>
                      </a:r>
                    </a:p>
                  </a:txBody>
                  <a:tcPr marL="20492" marR="20492" marT="13661" marB="13661"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</a:rPr>
                        <a:t>Test case chính</a:t>
                      </a:r>
                    </a:p>
                  </a:txBody>
                  <a:tcPr marL="20492" marR="20492" marT="13661" marB="13661"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</a:rPr>
                        <a:t>Kết quả</a:t>
                      </a:r>
                    </a:p>
                  </a:txBody>
                  <a:tcPr marL="20492" marR="20492" marT="13661" marB="13661"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solidFill>
                            <a:schemeClr val="bg1"/>
                          </a:solidFill>
                          <a:effectLst/>
                        </a:rPr>
                        <a:t>Lỗi</a:t>
                      </a: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chemeClr val="bg1"/>
                          </a:solidFill>
                          <a:effectLst/>
                        </a:rPr>
                        <a:t>liên</a:t>
                      </a: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chemeClr val="bg1"/>
                          </a:solidFill>
                          <a:effectLst/>
                        </a:rPr>
                        <a:t>quan</a:t>
                      </a:r>
                      <a:endParaRPr lang="en-US" sz="1200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20492" marR="20492" marT="13661" marB="13661"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1281073"/>
                  </a:ext>
                </a:extLst>
              </a:tr>
              <a:tr h="765031"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REQ-PP</a:t>
                      </a:r>
                    </a:p>
                  </a:txBody>
                  <a:tcPr marL="20492" marR="20492" marT="13661" marB="1366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Password đủ mạnh (độ dài, độ phức tạp, không phổ biến)</a:t>
                      </a:r>
                    </a:p>
                  </a:txBody>
                  <a:tcPr marL="20492" marR="20492" marT="13661" marB="1366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TC_BB_PP01–PP17</a:t>
                      </a:r>
                    </a:p>
                  </a:txBody>
                  <a:tcPr marL="20492" marR="20492" marT="13661" marB="1366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12 Pass / 5 Fail</a:t>
                      </a:r>
                    </a:p>
                  </a:txBody>
                  <a:tcPr marL="20492" marR="20492" marT="13661" marB="1366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BB-001, BB-002, BB-003, BB-004, BB-007</a:t>
                      </a:r>
                    </a:p>
                  </a:txBody>
                  <a:tcPr marL="20492" marR="20492" marT="13661" marB="13661" anchor="ctr"/>
                </a:tc>
                <a:extLst>
                  <a:ext uri="{0D108BD9-81ED-4DB2-BD59-A6C34878D82A}">
                    <a16:rowId xmlns:a16="http://schemas.microsoft.com/office/drawing/2014/main" val="745343528"/>
                  </a:ext>
                </a:extLst>
              </a:tr>
              <a:tr h="617490"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REQ-LO</a:t>
                      </a:r>
                    </a:p>
                  </a:txBody>
                  <a:tcPr marL="20492" marR="20492" marT="13661" marB="1366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Có lockout/rate limit khi đăng nhập sai nhiều lần</a:t>
                      </a:r>
                    </a:p>
                  </a:txBody>
                  <a:tcPr marL="20492" marR="20492" marT="13661" marB="1366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TC_BB_LO01–LO12</a:t>
                      </a:r>
                    </a:p>
                  </a:txBody>
                  <a:tcPr marL="20492" marR="20492" marT="13661" marB="1366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4 Pass / 8 Fail</a:t>
                      </a:r>
                    </a:p>
                  </a:txBody>
                  <a:tcPr marL="20492" marR="20492" marT="13661" marB="1366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BB-005</a:t>
                      </a:r>
                    </a:p>
                  </a:txBody>
                  <a:tcPr marL="20492" marR="20492" marT="13661" marB="13661" anchor="ctr"/>
                </a:tc>
                <a:extLst>
                  <a:ext uri="{0D108BD9-81ED-4DB2-BD59-A6C34878D82A}">
                    <a16:rowId xmlns:a16="http://schemas.microsoft.com/office/drawing/2014/main" val="635020205"/>
                  </a:ext>
                </a:extLst>
              </a:tr>
              <a:tr h="617490"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REQ-ST</a:t>
                      </a:r>
                    </a:p>
                  </a:txBody>
                  <a:tcPr marL="20492" marR="20492" marT="13661" marB="1366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Session phải timeout, logout phải invalidate token</a:t>
                      </a:r>
                    </a:p>
                  </a:txBody>
                  <a:tcPr marL="20492" marR="20492" marT="13661" marB="1366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TC_BB_ST01–ST14</a:t>
                      </a:r>
                    </a:p>
                  </a:txBody>
                  <a:tcPr marL="20492" marR="20492" marT="13661" marB="1366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7 Pass / 7 Fail</a:t>
                      </a:r>
                    </a:p>
                  </a:txBody>
                  <a:tcPr marL="20492" marR="20492" marT="13661" marB="1366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BB-006, VUL-06, VUL-07</a:t>
                      </a:r>
                    </a:p>
                  </a:txBody>
                  <a:tcPr marL="20492" marR="20492" marT="13661" marB="13661" anchor="ctr"/>
                </a:tc>
                <a:extLst>
                  <a:ext uri="{0D108BD9-81ED-4DB2-BD59-A6C34878D82A}">
                    <a16:rowId xmlns:a16="http://schemas.microsoft.com/office/drawing/2014/main" val="1809326587"/>
                  </a:ext>
                </a:extLst>
              </a:tr>
              <a:tr h="469948"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REQ-RM</a:t>
                      </a:r>
                    </a:p>
                  </a:txBody>
                  <a:tcPr marL="20492" marR="20492" marT="13661" marB="1366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Remember-Me an toàn, phân biệt ON/OFF</a:t>
                      </a:r>
                    </a:p>
                  </a:txBody>
                  <a:tcPr marL="20492" marR="20492" marT="13661" marB="1366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TC_BB_RM01–RM12</a:t>
                      </a:r>
                    </a:p>
                  </a:txBody>
                  <a:tcPr marL="20492" marR="20492" marT="13661" marB="1366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7 Pass / 5 Fail</a:t>
                      </a:r>
                    </a:p>
                  </a:txBody>
                  <a:tcPr marL="20492" marR="20492" marT="13661" marB="1366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Thiếu HttpOnly/Secure/SameSite</a:t>
                      </a:r>
                    </a:p>
                  </a:txBody>
                  <a:tcPr marL="20492" marR="20492" marT="13661" marB="13661" anchor="ctr"/>
                </a:tc>
                <a:extLst>
                  <a:ext uri="{0D108BD9-81ED-4DB2-BD59-A6C34878D82A}">
                    <a16:rowId xmlns:a16="http://schemas.microsoft.com/office/drawing/2014/main" val="1448840142"/>
                  </a:ext>
                </a:extLst>
              </a:tr>
              <a:tr h="469948"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REQ-WB</a:t>
                      </a:r>
                    </a:p>
                  </a:txBody>
                  <a:tcPr marL="20492" marR="20492" marT="13661" marB="1366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Bao phủ nhánh/lệnh ở 4 file xác thực</a:t>
                      </a:r>
                    </a:p>
                  </a:txBody>
                  <a:tcPr marL="20492" marR="20492" marT="13661" marB="13661" anchor="ctr"/>
                </a:tc>
                <a:tc>
                  <a:txBody>
                    <a:bodyPr/>
                    <a:lstStyle/>
                    <a:p>
                      <a:r>
                        <a:rPr lang="nl-NL" sz="1000">
                          <a:effectLst/>
                        </a:rPr>
                        <a:t>TC_WB_L*, CP*, RP*, IS* (63 TC)</a:t>
                      </a:r>
                    </a:p>
                  </a:txBody>
                  <a:tcPr marL="20492" marR="20492" marT="13661" marB="1366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63/63 Pass</a:t>
                      </a:r>
                    </a:p>
                  </a:txBody>
                  <a:tcPr marL="20492" marR="20492" marT="13661" marB="13661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VUL-01..VUL-07</a:t>
                      </a:r>
                    </a:p>
                  </a:txBody>
                  <a:tcPr marL="20492" marR="20492" marT="13661" marB="13661" anchor="ctr"/>
                </a:tc>
                <a:extLst>
                  <a:ext uri="{0D108BD9-81ED-4DB2-BD59-A6C34878D82A}">
                    <a16:rowId xmlns:a16="http://schemas.microsoft.com/office/drawing/2014/main" val="26033812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6693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2802"/>
            <a:ext cx="9144000" cy="6400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THIẾT KẾ CA KIỂM THỬ &amp; SỐ LIỆU &amp; KỸ THUẬT KIỂM THỬ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4658446" y="916894"/>
            <a:ext cx="1984248" cy="9692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58446" y="944326"/>
            <a:ext cx="1984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658446" y="1438102"/>
            <a:ext cx="1984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TC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58446" y="1675846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 + WB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871294" y="916894"/>
            <a:ext cx="1984248" cy="9692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71294" y="944326"/>
            <a:ext cx="1984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871294" y="1438102"/>
            <a:ext cx="1984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Lỗi phát hiện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71294" y="1675846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BB + 7 WB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-6504" y="2644309"/>
            <a:ext cx="4160520" cy="250193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-6504" y="2644309"/>
            <a:ext cx="416052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224" y="2662597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 (Newman – 55 TC)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3224" y="3064933"/>
            <a:ext cx="2011680" cy="256032"/>
          </a:xfrm>
          <a:prstGeom prst="roundRect">
            <a:avLst>
              <a:gd name="adj" fmla="val 2142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3224" y="3064933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– Phân vùng tương đương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3224" y="3284389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input thành vùng hợp lệ/không hợp lệ. Chọn 1 đại diện mỗi vùng, tránh test tất cả giá trị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4080" y="3683203"/>
            <a:ext cx="2011680" cy="256032"/>
          </a:xfrm>
          <a:prstGeom prst="roundRect">
            <a:avLst>
              <a:gd name="adj" fmla="val 2142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080" y="3683203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BVA – Giá trị biên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4080" y="3975811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tại ranh giới: min-1, min, min+1 và max-1, max, max+1 — nơi lỗi hay xảy ra nhất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4080" y="4396435"/>
            <a:ext cx="2011680" cy="256032"/>
          </a:xfrm>
          <a:prstGeom prst="roundRect">
            <a:avLst>
              <a:gd name="adj" fmla="val 2142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080" y="4396435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Table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4080" y="4667233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rule cho Remember-Me · 16 rule cho Lockout — bao phủ mọi tổ hợp điều kiện cùng lúc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0" y="2220163"/>
            <a:ext cx="4572002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0" y="2220163"/>
            <a:ext cx="4572002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3743" y="2247595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White-box  (Mocha – 63 TC)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71570" y="2626000"/>
            <a:ext cx="2225182" cy="256032"/>
          </a:xfrm>
          <a:prstGeom prst="roundRect">
            <a:avLst>
              <a:gd name="adj" fmla="val 2142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71570" y="2626000"/>
            <a:ext cx="22251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Coverage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671570" y="2918608"/>
            <a:ext cx="436920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cả nhánh TRUE và FALSE của mọi điều kiện if/else trong 4 file TypeScript — 100% đạt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71570" y="3320944"/>
            <a:ext cx="2225182" cy="256032"/>
          </a:xfrm>
          <a:prstGeom prst="roundRect">
            <a:avLst>
              <a:gd name="adj" fmla="val 2142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71570" y="3320944"/>
            <a:ext cx="22251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Coverage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671570" y="3613552"/>
            <a:ext cx="436920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Đảm bảo mọi câu lệnh được thực thi ≥ 1 lần. Kết hợp với Branch để đạt coverage toàn diện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80714" y="4015888"/>
            <a:ext cx="2225182" cy="256032"/>
          </a:xfrm>
          <a:prstGeom prst="roundRect">
            <a:avLst>
              <a:gd name="adj" fmla="val 2142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80714" y="4015888"/>
            <a:ext cx="22251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Vulnerability-Driven + Sinon Stub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680714" y="4308496"/>
            <a:ext cx="436920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Sinon giả lập DB — không cần Docker. Đọc code tìm lỗ hổng, viết test để chứng minh tồn tại</a:t>
            </a:r>
            <a:endParaRPr lang="en-US" sz="1100" dirty="0"/>
          </a:p>
        </p:txBody>
      </p:sp>
      <p:sp>
        <p:nvSpPr>
          <p:cNvPr id="45" name="Shape 39">
            <a:extLst>
              <a:ext uri="{FF2B5EF4-FFF2-40B4-BE49-F238E27FC236}">
                <a16:creationId xmlns:a16="http://schemas.microsoft.com/office/drawing/2014/main" id="{6BE0B6D4-83E8-4EAA-8F3C-627D2544A3F8}"/>
              </a:ext>
            </a:extLst>
          </p:cNvPr>
          <p:cNvSpPr/>
          <p:nvPr/>
        </p:nvSpPr>
        <p:spPr>
          <a:xfrm>
            <a:off x="4680714" y="4729120"/>
            <a:ext cx="2225182" cy="256032"/>
          </a:xfrm>
          <a:prstGeom prst="roundRect">
            <a:avLst>
              <a:gd name="adj" fmla="val 2142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6" name="Text 40">
            <a:extLst>
              <a:ext uri="{FF2B5EF4-FFF2-40B4-BE49-F238E27FC236}">
                <a16:creationId xmlns:a16="http://schemas.microsoft.com/office/drawing/2014/main" id="{4CEED4C6-8041-4C0F-A281-C05213EC2A4E}"/>
              </a:ext>
            </a:extLst>
          </p:cNvPr>
          <p:cNvSpPr/>
          <p:nvPr/>
        </p:nvSpPr>
        <p:spPr>
          <a:xfrm>
            <a:off x="4680714" y="4729120"/>
            <a:ext cx="22251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CFG Analysis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8F5064A-E0A4-414D-83CF-9D979DA7750B}"/>
              </a:ext>
            </a:extLst>
          </p:cNvPr>
          <p:cNvSpPr txBox="1"/>
          <p:nvPr/>
        </p:nvSpPr>
        <p:spPr>
          <a:xfrm>
            <a:off x="-5490" y="659576"/>
            <a:ext cx="483809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vi-VN" sz="12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Entry criteria (</a:t>
            </a:r>
            <a:r>
              <a:rPr lang="en-US" sz="1200" b="1" i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tiêu</a:t>
            </a:r>
            <a:r>
              <a:rPr lang="en-US" sz="12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i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chí</a:t>
            </a:r>
            <a:r>
              <a:rPr lang="en-US" sz="12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12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bắt đầu)</a:t>
            </a:r>
            <a:endParaRPr lang="vi-VN" sz="12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vi-VN" sz="12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Môi trường và công cụ sẵn sàng</a:t>
            </a:r>
            <a:r>
              <a:rPr lang="en-US" sz="12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vi-VN" sz="12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vi-VN" sz="12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data đầy </a:t>
            </a:r>
            <a:r>
              <a:rPr lang="en-US" sz="1200" b="0" i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đủ</a:t>
            </a:r>
            <a:r>
              <a:rPr lang="en-US" sz="12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vi-VN" sz="12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vi-VN" sz="12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case đã review và map yêu cầu</a:t>
            </a:r>
            <a:r>
              <a:rPr lang="en-US" sz="12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vi-VN" sz="12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vi-VN" sz="12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Phạm vi/kế hoạch đã chốt</a:t>
            </a:r>
          </a:p>
          <a:p>
            <a:pPr algn="l"/>
            <a:r>
              <a:rPr lang="vi-VN" sz="12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Exit criteria (</a:t>
            </a:r>
            <a:r>
              <a:rPr lang="en-US" sz="1200" b="1" i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tiêu</a:t>
            </a:r>
            <a:r>
              <a:rPr lang="en-US" sz="12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i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chí</a:t>
            </a:r>
            <a:r>
              <a:rPr lang="en-US" sz="12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12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kết thúc)</a:t>
            </a:r>
            <a:endParaRPr lang="vi-VN" sz="12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vi-VN" sz="12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Hoàn tất chạy 118 test case theo kế hoạch.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vi-VN" sz="12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Có đủ báo cáo kết quả và bằng chứng (pass/fail, log, report).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vi-VN" sz="12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Bug đã phân loại và ưu tiên xử lý (severity, module, bước tái hiện).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vi-VN" sz="12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Có kết luận chất lượng tổng thể và đề xuất cải tiến theo nhóm lỗi.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KẾT QUẢ KIỂM THỬ HỘP ĐEN (Newman)</a:t>
            </a:r>
            <a:endParaRPr lang="en-US" sz="19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56032" y="804672"/>
          <a:ext cx="4389120" cy="36393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919472" y="804672"/>
            <a:ext cx="396849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919472" y="804672"/>
            <a:ext cx="54864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84064" y="8595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Policy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168896" y="859536"/>
            <a:ext cx="475488" cy="219456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68896" y="85953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✓12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7699248" y="859536"/>
            <a:ext cx="475488" cy="219456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99248" y="85953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✗5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8229600" y="859536"/>
            <a:ext cx="585216" cy="219456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0" y="859536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70,6%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84064" y="11521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enforce độ dài tối thiểu &amp; độ phức tạp. Chấp nhận mật khẩu phổ biến, trùng email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919472" y="1700784"/>
            <a:ext cx="396849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919472" y="1700784"/>
            <a:ext cx="54864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84064" y="17556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Lockout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168896" y="1755648"/>
            <a:ext cx="475488" cy="219456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68896" y="175564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✓4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699248" y="1755648"/>
            <a:ext cx="475488" cy="219456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99248" y="175564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✗8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8229600" y="1755648"/>
            <a:ext cx="585216" cy="219456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29600" y="1755648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33,3%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084064" y="204825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toàn không có lockout / rate limiting / CAPTCHA — mở cho brute-force (BB-005)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919472" y="2596896"/>
            <a:ext cx="396849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919472" y="2596896"/>
            <a:ext cx="54864" cy="822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84064" y="2651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Timeout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7168896" y="2651760"/>
            <a:ext cx="475488" cy="219456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168896" y="2651760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✓7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7699248" y="2651760"/>
            <a:ext cx="475488" cy="219456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699248" y="2651760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✗7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8229600" y="2651760"/>
            <a:ext cx="585216" cy="219456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229600" y="2651760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50,0%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5084064" y="29443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không có trường exp, không blacklist sau logout — phiên tồn tại vĩnh viễn (BB-006)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4919472" y="3493008"/>
            <a:ext cx="396849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4919472" y="3493008"/>
            <a:ext cx="54864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084064" y="35478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Remember-Me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7168896" y="3547872"/>
            <a:ext cx="475488" cy="219456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168896" y="354787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✓7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7699248" y="3547872"/>
            <a:ext cx="475488" cy="219456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699248" y="354787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✗5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8229600" y="3547872"/>
            <a:ext cx="585216" cy="219456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229600" y="3547872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58,3%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5084064" y="38404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thiếu HttpOnly, Secure, SameSite. Token lưu localStorage không phân biệt remember ON/OFF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0" y="4517136"/>
            <a:ext cx="9144000" cy="6400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274320" y="455371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BB: </a:t>
            </a:r>
            <a:r>
              <a:rPr lang="en-US" sz="2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Test Case - 30 Pass / 25 Fail  –  Successful Coverage 54,5%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KẾT QUẢ KIỂM THỬ HỘP TRẮNG (Mocha + Chai + Sinon)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219456" y="2660904"/>
            <a:ext cx="8631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Lỗ hổng bảo mật phát hiện qua White-box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74320" y="3063240"/>
            <a:ext cx="20116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" y="3063240"/>
            <a:ext cx="2011680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9184" y="30998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VUL-01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1426464" y="3099816"/>
            <a:ext cx="786384" cy="201168"/>
          </a:xfrm>
          <a:prstGeom prst="roundRect">
            <a:avLst>
              <a:gd name="adj" fmla="val 27273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426464" y="3099816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47472" y="3392424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47472" y="3685032"/>
            <a:ext cx="402336" cy="201168"/>
          </a:xfrm>
          <a:prstGeom prst="roundRect">
            <a:avLst>
              <a:gd name="adj" fmla="val 2727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7472" y="3685032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A03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487168" y="3063240"/>
            <a:ext cx="20116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487168" y="3063240"/>
            <a:ext cx="2011680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542032" y="30998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VUL-02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639312" y="3099816"/>
            <a:ext cx="786384" cy="201168"/>
          </a:xfrm>
          <a:prstGeom prst="roundRect">
            <a:avLst>
              <a:gd name="adj" fmla="val 2727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39312" y="3099816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2560320" y="3392424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no salt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2560320" y="3685032"/>
            <a:ext cx="402336" cy="201168"/>
          </a:xfrm>
          <a:prstGeom prst="roundRect">
            <a:avLst>
              <a:gd name="adj" fmla="val 2727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0320" y="3685032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A02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700016" y="3063240"/>
            <a:ext cx="20116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700016" y="3063240"/>
            <a:ext cx="2011680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54880" y="30998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VUL-03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852160" y="3099816"/>
            <a:ext cx="786384" cy="201168"/>
          </a:xfrm>
          <a:prstGeom prst="roundRect">
            <a:avLst>
              <a:gd name="adj" fmla="val 27273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52160" y="3099816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4773168" y="3392424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Key hardcoded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4773168" y="3685032"/>
            <a:ext cx="402336" cy="201168"/>
          </a:xfrm>
          <a:prstGeom prst="roundRect">
            <a:avLst>
              <a:gd name="adj" fmla="val 2727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73168" y="3685032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A02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6912864" y="3063240"/>
            <a:ext cx="20116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6912864" y="3063240"/>
            <a:ext cx="2011680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967728" y="30998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VUL-04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8065008" y="3099816"/>
            <a:ext cx="786384" cy="201168"/>
          </a:xfrm>
          <a:prstGeom prst="roundRect">
            <a:avLst>
              <a:gd name="adj" fmla="val 2727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065008" y="3099816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6986016" y="3392424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 đổi mật khẩu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6986016" y="3685032"/>
            <a:ext cx="402336" cy="201168"/>
          </a:xfrm>
          <a:prstGeom prst="roundRect">
            <a:avLst>
              <a:gd name="adj" fmla="val 2727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986016" y="3685032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A07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274320" y="4050792"/>
            <a:ext cx="20116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274320" y="4050792"/>
            <a:ext cx="201168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29184" y="40873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VUL-05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1426464" y="4087368"/>
            <a:ext cx="786384" cy="201168"/>
          </a:xfrm>
          <a:prstGeom prst="roundRect">
            <a:avLst>
              <a:gd name="adj" fmla="val 2727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426464" y="4087368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347472" y="4379976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Redirect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347472" y="4672584"/>
            <a:ext cx="402336" cy="201168"/>
          </a:xfrm>
          <a:prstGeom prst="roundRect">
            <a:avLst>
              <a:gd name="adj" fmla="val 2727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47472" y="467258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A01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2487168" y="4050792"/>
            <a:ext cx="20116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2487168" y="4050792"/>
            <a:ext cx="201168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2542032" y="40873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VUL-06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639312" y="4087368"/>
            <a:ext cx="786384" cy="201168"/>
          </a:xfrm>
          <a:prstGeom prst="roundRect">
            <a:avLst>
              <a:gd name="adj" fmla="val 2727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3639312" y="4087368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55" name="Text 52"/>
          <p:cNvSpPr/>
          <p:nvPr/>
        </p:nvSpPr>
        <p:spPr>
          <a:xfrm>
            <a:off x="2560320" y="4379976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session blacklist</a:t>
            </a:r>
            <a:endParaRPr lang="en-US" sz="1050" dirty="0"/>
          </a:p>
        </p:txBody>
      </p:sp>
      <p:sp>
        <p:nvSpPr>
          <p:cNvPr id="56" name="Shape 53"/>
          <p:cNvSpPr/>
          <p:nvPr/>
        </p:nvSpPr>
        <p:spPr>
          <a:xfrm>
            <a:off x="2560320" y="4672584"/>
            <a:ext cx="402336" cy="201168"/>
          </a:xfrm>
          <a:prstGeom prst="roundRect">
            <a:avLst>
              <a:gd name="adj" fmla="val 2727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2560320" y="467258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A07</a:t>
            </a:r>
            <a:endParaRPr lang="en-US" sz="950" dirty="0"/>
          </a:p>
        </p:txBody>
      </p:sp>
      <p:sp>
        <p:nvSpPr>
          <p:cNvPr id="58" name="Shape 55"/>
          <p:cNvSpPr/>
          <p:nvPr/>
        </p:nvSpPr>
        <p:spPr>
          <a:xfrm>
            <a:off x="4700016" y="4050792"/>
            <a:ext cx="20116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9" name="Shape 56"/>
          <p:cNvSpPr/>
          <p:nvPr/>
        </p:nvSpPr>
        <p:spPr>
          <a:xfrm>
            <a:off x="4700016" y="4050792"/>
            <a:ext cx="2011680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4754880" y="40873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VUL-07</a:t>
            </a:r>
            <a:endParaRPr lang="en-US" sz="950" dirty="0"/>
          </a:p>
        </p:txBody>
      </p:sp>
      <p:sp>
        <p:nvSpPr>
          <p:cNvPr id="61" name="Shape 58"/>
          <p:cNvSpPr/>
          <p:nvPr/>
        </p:nvSpPr>
        <p:spPr>
          <a:xfrm>
            <a:off x="5852160" y="4087368"/>
            <a:ext cx="786384" cy="201168"/>
          </a:xfrm>
          <a:prstGeom prst="roundRect">
            <a:avLst>
              <a:gd name="adj" fmla="val 2727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852160" y="4087368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63" name="Text 60"/>
          <p:cNvSpPr/>
          <p:nvPr/>
        </p:nvSpPr>
        <p:spPr>
          <a:xfrm>
            <a:off x="4773168" y="4379976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no exp</a:t>
            </a:r>
            <a:endParaRPr lang="en-US" sz="1050" dirty="0"/>
          </a:p>
        </p:txBody>
      </p:sp>
      <p:sp>
        <p:nvSpPr>
          <p:cNvPr id="64" name="Shape 61"/>
          <p:cNvSpPr/>
          <p:nvPr/>
        </p:nvSpPr>
        <p:spPr>
          <a:xfrm>
            <a:off x="4773168" y="4672584"/>
            <a:ext cx="402336" cy="201168"/>
          </a:xfrm>
          <a:prstGeom prst="roundRect">
            <a:avLst>
              <a:gd name="adj" fmla="val 2727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4773168" y="467258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A07</a:t>
            </a:r>
            <a:endParaRPr lang="en-US" sz="950" dirty="0"/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B7A7FB82-EC2D-475D-BA71-30295189C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6" y="735371"/>
            <a:ext cx="9122054" cy="170607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CHI TIẾT LỖ HỔNG BẢO MẬT (White-box)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4187952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04672"/>
            <a:ext cx="4187952" cy="32918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850392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VUL-01  SQL Injection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822192" y="859536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22192" y="85953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47472" y="1188720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routes/login.ts  –  dòng 35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7472" y="1408176"/>
            <a:ext cx="4005072" cy="96926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1444752"/>
            <a:ext cx="38587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Users WHERE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email = '${req.body.email}'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Không parameterized query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' OR 1=1 -- bypass xác thực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7472" y="2468880"/>
            <a:ext cx="2926080" cy="219456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46888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OWASP: A03:2021 – Injection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0016" y="804672"/>
            <a:ext cx="4187952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0016" y="804672"/>
            <a:ext cx="4187952" cy="32918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91456" y="850392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VUL-03  RSA Private Key Hardcoded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66176" y="859536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6176" y="85953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91456" y="1188720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lib/insecurity.ts  –  dòng 24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91456" y="1408176"/>
            <a:ext cx="4005072" cy="96926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1444752"/>
            <a:ext cx="38587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privateKey = '-----BEGIN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RSA PRIVATE KEY-----...'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Viết cứng trong source code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forge JWT role admin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91456" y="2468880"/>
            <a:ext cx="2926080" cy="219456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91456" y="246888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OWASP: A02:2021 – Cryptographic Failures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56032" y="2907792"/>
            <a:ext cx="4187952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2907792"/>
            <a:ext cx="4187952" cy="32918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2953512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VUL-04  Bypass Đổi Mật Khẩu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822192" y="2962656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22192" y="296265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47472" y="3291840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routes/changePassword.ts  –  dòng 39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47472" y="3511296"/>
            <a:ext cx="4005072" cy="96926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" y="3547872"/>
            <a:ext cx="38587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(currentPassword &amp;&amp;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hash !== user.password)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currentPassword=undefined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short-circuit → bypass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47472" y="4572000"/>
            <a:ext cx="2926080" cy="219456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457200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OWASP: A07:2021 – Auth Failures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00016" y="2907792"/>
            <a:ext cx="4187952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0016" y="2907792"/>
            <a:ext cx="4187952" cy="32918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91456" y="2953512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VUL-07  JWT Không Có Trường exp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266176" y="2962656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66176" y="296265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791456" y="3291840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lib/insecurity.ts  –  dòng 56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91456" y="3511296"/>
            <a:ext cx="4005072" cy="96926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64608" y="3547872"/>
            <a:ext cx="38587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jwt.sign(user, privateKey,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expiresIn: '6h' })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jsonwebtoken v0.4.0 không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tạo trường exp → never expire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91456" y="4572000"/>
            <a:ext cx="2926080" cy="219456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91456" y="457200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OWASP: A07:2021 – Auth Failures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KIỂM THỬ TỰ ĐỘNG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676656"/>
            <a:ext cx="4468629" cy="235549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I" dirty="0"/>
          </a:p>
        </p:txBody>
      </p:sp>
      <p:sp>
        <p:nvSpPr>
          <p:cNvPr id="5" name="Shape 3"/>
          <p:cNvSpPr/>
          <p:nvPr/>
        </p:nvSpPr>
        <p:spPr>
          <a:xfrm>
            <a:off x="0" y="668252"/>
            <a:ext cx="4468629" cy="3763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" y="71832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Newman  –  Black-box (55 TC)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012" y="1386425"/>
            <a:ext cx="1637439" cy="1316736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40" y="1368722"/>
            <a:ext cx="171907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newman run collection.json \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-e env.docker.json \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 data.json \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--reporters cli,htmlextra \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--reporter-htmlextra-export\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report.html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571999" y="672608"/>
            <a:ext cx="4572000" cy="235954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672608"/>
            <a:ext cx="4160520" cy="3108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81728" y="69089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Mocha  –  White-box (63 TC)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05319" y="1568720"/>
            <a:ext cx="1437135" cy="123885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6710" y="1550432"/>
            <a:ext cx="1501787" cy="1179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mocha \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-r ts-node/register \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loginSpec.ts \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changePasswordSpec.ts \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resetPasswordSpec.ts \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insecurityWhiteBoxSpec.ts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0" y="3160166"/>
            <a:ext cx="4160520" cy="1975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0" y="3160166"/>
            <a:ext cx="4160520" cy="3108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" y="317845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ZAP  –  Security Proxy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" y="3562502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69264" y="3562502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127.0.0.1:8090 → Juice Shop 3000 — đứng giữa Postman và ứng dụng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9728" y="3909974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thập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69264" y="3909974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Request/Response làm bằng chứng kiểm thử — History/Request tab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9728" y="4257446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scan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69264" y="4257446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phát hiện cookie thiếu HttpOnly, Secure, SameSite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9728" y="460491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69264" y="460491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Baseline Scan hàng tuần – file .zap/rules.tsv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958430" y="3160166"/>
            <a:ext cx="4160520" cy="1975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58430" y="3160166"/>
            <a:ext cx="4160520" cy="31089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68158" y="317845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Tỉ lệ &amp; Thời gian chạy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123022" y="3580790"/>
            <a:ext cx="1225296" cy="142646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3022" y="3617366"/>
            <a:ext cx="12252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91,5%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5123022" y="4202582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tự động hóa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 / 118 TC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458046" y="3580790"/>
            <a:ext cx="1225296" cy="142646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58046" y="3617366"/>
            <a:ext cx="12252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~8s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6458046" y="4202582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White-box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cần Docker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793070" y="3580790"/>
            <a:ext cx="1225296" cy="142646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93070" y="3617366"/>
            <a:ext cx="12252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~100'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7793070" y="4202582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(95' chờ timeout)</a:t>
            </a:r>
            <a:endParaRPr lang="en-US" sz="85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F2D23C61-C056-4E78-BBBD-B59A9C81C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2334" y="1265006"/>
            <a:ext cx="2794213" cy="1617008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DA94EA48-687B-4143-B628-DC2F229057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1063" y="1122842"/>
            <a:ext cx="3122936" cy="19093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588098C-773E-4607-8F05-FAE9EF61A4DD}"/>
              </a:ext>
            </a:extLst>
          </p:cNvPr>
          <p:cNvSpPr txBox="1"/>
          <p:nvPr/>
        </p:nvSpPr>
        <p:spPr>
          <a:xfrm>
            <a:off x="-39603" y="1049483"/>
            <a:ext cx="15696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Cmnd</a:t>
            </a:r>
            <a:r>
              <a:rPr lang="en-US" sz="1600" dirty="0"/>
              <a:t> </a:t>
            </a:r>
            <a:r>
              <a:rPr lang="en-US" sz="1600" dirty="0" err="1"/>
              <a:t>thực</a:t>
            </a:r>
            <a:r>
              <a:rPr lang="en-US" sz="1600" dirty="0"/>
              <a:t> </a:t>
            </a:r>
            <a:r>
              <a:rPr lang="en-US" sz="1600" dirty="0" err="1"/>
              <a:t>hiện</a:t>
            </a:r>
            <a:r>
              <a:rPr lang="en-US" sz="1600" dirty="0"/>
              <a:t>:</a:t>
            </a:r>
            <a:endParaRPr lang="en-AI" sz="16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DF81A62-3DF8-414C-A289-377956F8C48C}"/>
              </a:ext>
            </a:extLst>
          </p:cNvPr>
          <p:cNvSpPr txBox="1"/>
          <p:nvPr/>
        </p:nvSpPr>
        <p:spPr>
          <a:xfrm>
            <a:off x="4508232" y="1193590"/>
            <a:ext cx="15696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Cmnd</a:t>
            </a:r>
            <a:r>
              <a:rPr lang="en-US" sz="1600" dirty="0"/>
              <a:t> </a:t>
            </a:r>
            <a:r>
              <a:rPr lang="en-US" sz="1600" dirty="0" err="1"/>
              <a:t>thực</a:t>
            </a:r>
            <a:r>
              <a:rPr lang="en-US" sz="1600" dirty="0"/>
              <a:t> </a:t>
            </a:r>
            <a:r>
              <a:rPr lang="en-US" sz="1600" dirty="0" err="1"/>
              <a:t>hiện</a:t>
            </a:r>
            <a:r>
              <a:rPr lang="en-US" sz="1600" dirty="0"/>
              <a:t>:</a:t>
            </a:r>
            <a:endParaRPr lang="en-AI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ĐÁNH GIÁ CHẤT LƯỢNG ỨNG DỤNG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37744" y="669341"/>
            <a:ext cx="863193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37744" y="669341"/>
            <a:ext cx="1600200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0896" y="760781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Policy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7472" y="1108253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374151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108253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Yếu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956816" y="870509"/>
            <a:ext cx="6803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5/17 Fail – Không enforce độ dài tối thiểu &amp; độ phức tạp. Chấp nhận mật khẩu phổ biến, trùng email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37744" y="1419149"/>
            <a:ext cx="8631936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7744" y="1492301"/>
            <a:ext cx="863193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37744" y="1492301"/>
            <a:ext cx="1600200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" y="1583741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Lockout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7472" y="1931213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374151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1931213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956816" y="1693469"/>
            <a:ext cx="6803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8/12 Fail – Không có bất kỳ cơ chế lockout / rate limiting / CAPTCHA — mở hoàn toàn cho brute-force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37744" y="2242109"/>
            <a:ext cx="8631936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" y="2315261"/>
            <a:ext cx="863193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37744" y="2315261"/>
            <a:ext cx="1600200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" y="2406701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Timeout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7472" y="2754173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374151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754173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956816" y="2516429"/>
            <a:ext cx="6803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7/14 Fail – JWT không có trường exp, không blacklist token sau logout — phiên tồn tại vĩnh viễn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37744" y="3065069"/>
            <a:ext cx="8631936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7744" y="3138221"/>
            <a:ext cx="863193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37744" y="3138221"/>
            <a:ext cx="1600200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0896" y="3229661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Remember-Me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47472" y="3577133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374151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3577133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bình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956816" y="3339389"/>
            <a:ext cx="6803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5/12 Fail – Cookie thiếu HttpOnly, Secure, SameSite. Không phân biệt remember ON/OFF ở server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37744" y="3888029"/>
            <a:ext cx="8631936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7744" y="3961181"/>
            <a:ext cx="863193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37744" y="3961181"/>
            <a:ext cx="1600200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0896" y="4052621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nguồn (WB)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47472" y="4400093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374151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4400093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Rất yếu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956816" y="4162349"/>
            <a:ext cx="6803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lỗ hổng: 2 Critical + 3 High + 2 Medium — SQL Injection, RSA hardcode, MD5 no salt, JWT no exp...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37744" y="4710989"/>
            <a:ext cx="8631936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747565"/>
            <a:ext cx="9144000" cy="391363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802429"/>
            <a:ext cx="8686800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luận: </a:t>
            </a: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Juice Shop vi phạm A01 · A02 · A03 · A07 OWASP Top 10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BÀI HỌC &amp; ĐỀ XUẤT CẢI TIẾN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4160520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04672"/>
            <a:ext cx="416052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học kinh nghiệm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289304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252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 + WB bổ trợ nhau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49961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 phát hiện triệu chứng từ bên ngoài. WB tìm nguyên nhân gốc rễ trong code. Cần cả hai để đánh giá toàn diện — riêng lẻ không đủ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07568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011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Sinon stub = không cần Docker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28600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WB test chạy trong ~8 giây, cô lập hoàn toàn khỏi DB thật. Test ổn định, không phụ thuộc môi trường Docker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86207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7980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 là bằng chứng trực quan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07238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History/Request/Response từ ZAP tái hiện được, thuyết phục hơn ảnh chụp </a:t>
            </a:r>
            <a:r>
              <a:rPr lang="en-US" sz="10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màn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64845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5844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Juice Shop có chủ đích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85876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biệt rõ: Fail do test design sai vs lỗi thật của app vs lỗi có chủ đích của Juice Shop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27448" y="804672"/>
            <a:ext cx="4160520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27448" y="804672"/>
            <a:ext cx="416052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37176" y="8229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xuất cải tiến ứng dụng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837176" y="1280160"/>
            <a:ext cx="146304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84064" y="1225296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Password Policy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84064" y="1499616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bcrypt/argon2 có salt · min 8 ký tự · complexity check · blacklist mật khẩu phổ biến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37176" y="1938528"/>
            <a:ext cx="146304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84064" y="1883664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Account Lockout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84064" y="2157984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Khóa 15 phút sau 5 lần sai · CAPTCHA sau 3 lần · rate limit HTTP 429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37176" y="2596896"/>
            <a:ext cx="146304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84064" y="2542032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Sửa JWT – thêm exp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084064" y="2816352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Nâng jsonwebtoken v9+ · expiresIn:'1h' · blacklist token khi logout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37176" y="3255264"/>
            <a:ext cx="146304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84064" y="3200400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vệ khóa mã hóa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084064" y="3474720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key vào env var/secret manager · dùng bcrypt hoặc PBKDF2 thay MD5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37176" y="3913632"/>
            <a:ext cx="146304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84064" y="3858768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attributes đầy đủ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084064" y="4133088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HttpOnly, Secure, SameSite=Strict cho toàn bộ cookie session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939</TotalTime>
  <Words>1660</Words>
  <Application>Microsoft Office PowerPoint</Application>
  <PresentationFormat>On-screen Show (16:9)</PresentationFormat>
  <Paragraphs>268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. Trần Minh Nhật</cp:lastModifiedBy>
  <cp:revision>23</cp:revision>
  <dcterms:created xsi:type="dcterms:W3CDTF">2026-03-17T07:34:54Z</dcterms:created>
  <dcterms:modified xsi:type="dcterms:W3CDTF">2026-03-18T17:07:02Z</dcterms:modified>
</cp:coreProperties>
</file>